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813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6365C"/>
                </a:solidFill>
                <a:latin typeface="Tahoma"/>
              </a:rPr>
              <a:t>High-Throughput Image Classification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76272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95959"/>
                </a:solidFill>
                <a:latin typeface="Tahoma"/>
              </a:rPr>
              <a:t>ระบบ API จำแนกรูปภาพด้วย FastAPI และโมเดล apple/mobilevit-small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749039"/>
            <a:ext cx="8595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75104" y="3858768"/>
            <a:ext cx="83027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สมาชิกกลุ่ม</a:t>
            </a:r>
          </a:p>
          <a:p>
            <a:pPr>
              <a:spcBef>
                <a:spcPts val="500"/>
              </a:spcBef>
              <a:defRPr sz="1500">
                <a:solidFill>
                  <a:srgbClr val="282828"/>
                </a:solidFill>
                <a:latin typeface="Tahoma"/>
              </a:defRPr>
            </a:pPr>
            <a:r>
              <a:t>ธนัสถ์ภณ อ่างทอง | จีฮาน สุทธินิพนธ์นาม | อกัณห์ เกษเพชร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วัตถุประสงค์ของโปรเจกต์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  <a:latin typeface="Tahoma"/>
              </a:defRPr>
            </a:pPr>
            <a:r>
              <a:t>พัฒนา API สำหรับจำแนกรูปภาพที่สามารถเรียกใช้งานได้จริง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  <a:latin typeface="Tahoma"/>
              </a:defRPr>
            </a:pPr>
            <a:r>
              <a:t>ปรับแต่งโมเดลให้เล็กลงและเหมาะกับ CPU inference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  <a:latin typeface="Tahoma"/>
              </a:defRPr>
            </a:pPr>
            <a:r>
              <a:t>รองรับการเรียกใช้งานพร้อมกันโดยไม่ทำให้ API ค้าง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  <a:latin typeface="Tahoma"/>
              </a:defRPr>
            </a:pPr>
            <a:r>
              <a:t>เตรียม Docker, CI/CD, Postman, JMeter, รายงาน และสไลด์นำเสนอให้ครบตามโจทย์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ขั้นตอนการทำโปรเจกต์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Tahoma"/>
              </a:rPr>
              <a:t>ลำดับงานตั้งแต่เลือกโมเดลจนถึงเตรียมส่งงาน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733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1554480"/>
            <a:ext cx="2971800" cy="868680"/>
          </a:xfrm>
          <a:prstGeom prst="roundRect">
            <a:avLst/>
          </a:prstGeom>
          <a:solidFill>
            <a:srgbClr val="F2F7F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1664207"/>
            <a:ext cx="26791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65C"/>
                </a:solidFill>
                <a:latin typeface="Tahoma"/>
              </a:rPr>
              <a:t>เลือกโมเดล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ใช้ apple/mobilevit-small จาก Hugging Face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1600200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6733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554480"/>
            <a:ext cx="2971800" cy="868680"/>
          </a:xfrm>
          <a:prstGeom prst="roundRect">
            <a:avLst/>
          </a:prstGeom>
          <a:solidFill>
            <a:srgbClr val="F2F7F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6904" y="1664207"/>
            <a:ext cx="26791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65C"/>
                </a:solidFill>
                <a:latin typeface="Tahoma"/>
              </a:rPr>
              <a:t>Baseline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ทดสอบ PyTorch เพื่อเก็บขนาดและ latency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1600200"/>
            <a:ext cx="502920" cy="50292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6733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1554480"/>
            <a:ext cx="2971800" cy="868680"/>
          </a:xfrm>
          <a:prstGeom prst="roundRect">
            <a:avLst/>
          </a:prstGeom>
          <a:solidFill>
            <a:srgbClr val="F2F7F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1664207"/>
            <a:ext cx="26791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65C"/>
                </a:solidFill>
                <a:latin typeface="Tahoma"/>
              </a:rPr>
              <a:t>ONNX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แปลงโมเดลให้เหมาะกับ inference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94760" y="1874519"/>
            <a:ext cx="594360" cy="2286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269480" y="1874519"/>
            <a:ext cx="594360" cy="2286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749039"/>
            <a:ext cx="502920" cy="50292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2219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3703320"/>
            <a:ext cx="2971800" cy="868680"/>
          </a:xfrm>
          <a:prstGeom prst="roundRect">
            <a:avLst/>
          </a:prstGeom>
          <a:solidFill>
            <a:srgbClr val="F2F7F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2184" y="3813048"/>
            <a:ext cx="26791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65C"/>
                </a:solidFill>
                <a:latin typeface="Tahoma"/>
              </a:rPr>
              <a:t>Quantization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ลดขนาดโมเดลด้วย Dynamic Quantization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160520" y="3749039"/>
            <a:ext cx="502920" cy="502920"/>
          </a:xfrm>
          <a:prstGeom prst="ellipse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382219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703320"/>
            <a:ext cx="2971800" cy="868680"/>
          </a:xfrm>
          <a:prstGeom prst="roundRect">
            <a:avLst/>
          </a:prstGeom>
          <a:solidFill>
            <a:srgbClr val="F2F7F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3813048"/>
            <a:ext cx="26791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65C"/>
                </a:solidFill>
                <a:latin typeface="Tahoma"/>
              </a:rPr>
              <a:t>FastAPI + Docker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สร้าง API, validation และ container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3749039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382219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ahoma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3703320"/>
            <a:ext cx="2971800" cy="868680"/>
          </a:xfrm>
          <a:prstGeom prst="roundRect">
            <a:avLst/>
          </a:prstGeom>
          <a:solidFill>
            <a:srgbClr val="F2F7F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3813048"/>
            <a:ext cx="26791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65C"/>
                </a:solidFill>
                <a:latin typeface="Tahoma"/>
              </a:rPr>
              <a:t>Test + Report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ทดสอบ API, load test และสรุปผล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794760" y="4023360"/>
            <a:ext cx="594360" cy="2286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7269480" y="4023360"/>
            <a:ext cx="594360" cy="2286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Workflow การทำงานของระบบ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2148840" cy="123444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984248"/>
            <a:ext cx="18562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65C"/>
                </a:solidFill>
                <a:latin typeface="Tahoma"/>
              </a:rPr>
              <a:t>รูปภาพ</a:t>
            </a:r>
          </a:p>
          <a:p>
            <a:pPr>
              <a:spcBef>
                <a:spcPts val="500"/>
              </a:spcBef>
              <a:defRPr sz="1200">
                <a:solidFill>
                  <a:srgbClr val="282828"/>
                </a:solidFill>
                <a:latin typeface="Tahoma"/>
              </a:defRPr>
            </a:pPr>
            <a:r>
              <a:t>ผู้ใช้ส่งไฟล์ภาพจริง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44368" y="2377440"/>
            <a:ext cx="658368" cy="25603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874519"/>
            <a:ext cx="2148840" cy="123444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2463" y="1984248"/>
            <a:ext cx="18562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65C"/>
                </a:solidFill>
                <a:latin typeface="Tahoma"/>
              </a:rPr>
              <a:t>Validation</a:t>
            </a:r>
          </a:p>
          <a:p>
            <a:pPr>
              <a:spcBef>
                <a:spcPts val="500"/>
              </a:spcBef>
              <a:defRPr sz="1200">
                <a:solidFill>
                  <a:srgbClr val="282828"/>
                </a:solidFill>
                <a:latin typeface="Tahoma"/>
              </a:defRPr>
            </a:pPr>
            <a:r>
              <a:t>ตรวจชนิดไฟล์ ขนาด และไฟล์เสีย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79008" y="2377440"/>
            <a:ext cx="658368" cy="25603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2148840" cy="123444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984248"/>
            <a:ext cx="18562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65C"/>
                </a:solidFill>
                <a:latin typeface="Tahoma"/>
              </a:rPr>
              <a:t>Inference</a:t>
            </a:r>
          </a:p>
          <a:p>
            <a:pPr>
              <a:spcBef>
                <a:spcPts val="500"/>
              </a:spcBef>
              <a:defRPr sz="1200">
                <a:solidFill>
                  <a:srgbClr val="282828"/>
                </a:solidFill>
                <a:latin typeface="Tahoma"/>
              </a:defRPr>
            </a:pPr>
            <a:r>
              <a:t>ประมวลผลด้วย ONNX Quantized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13648" y="2377440"/>
            <a:ext cx="658368" cy="25603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1874519"/>
            <a:ext cx="2148840" cy="123444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1744" y="1984248"/>
            <a:ext cx="18562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65C"/>
                </a:solidFill>
                <a:latin typeface="Tahoma"/>
              </a:rPr>
              <a:t>Response</a:t>
            </a:r>
          </a:p>
          <a:p>
            <a:pPr>
              <a:spcBef>
                <a:spcPts val="500"/>
              </a:spcBef>
              <a:defRPr sz="1200">
                <a:solidFill>
                  <a:srgbClr val="282828"/>
                </a:solidFill>
                <a:latin typeface="Tahoma"/>
              </a:defRPr>
            </a:pPr>
            <a:r>
              <a:t>ส่ง label และ score เป็น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FastAPI ทำหน้าที่รับ request และควบคุม response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ProcessPoolExecutor แยกงาน inference ที่ใช้ CPU ออกจาก event loop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Docker ทำให้ระบบรันซ้ำได้ง่ายทั้ง local และ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โมเดลที่เลือกใช้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Tahoma"/>
              </a:rPr>
              <a:t>apple/mobilevit-small จาก Hugging 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291840" cy="1234440"/>
          </a:xfrm>
          <a:prstGeom prst="roundRect">
            <a:avLst/>
          </a:prstGeom>
          <a:solidFill>
            <a:srgbClr val="DDEB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664207"/>
            <a:ext cx="29992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Lightweight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ขนาดไม่ใหญ่มาก เหมาะกับ CPU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291840" cy="1234440"/>
          </a:xfrm>
          <a:prstGeom prst="roundRect">
            <a:avLst/>
          </a:prstGeom>
          <a:solidFill>
            <a:srgbClr val="DDEB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664207"/>
            <a:ext cx="29992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CNN + Transformer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เรียนรู้ทั้งรายละเอียดเฉพาะจุดและภาพรวม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554480"/>
            <a:ext cx="3291840" cy="1234440"/>
          </a:xfrm>
          <a:prstGeom prst="roundRect">
            <a:avLst/>
          </a:prstGeom>
          <a:solidFill>
            <a:srgbClr val="DDEB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664207"/>
            <a:ext cx="29992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API Ready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นำไปใช้กับระบบ FastAPI และ Docker 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Tahoma"/>
              </a:defRPr>
            </a:pPr>
            <a:r>
              <a:t>งานที่ใช้: Image Classification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Tahoma"/>
              </a:defRPr>
            </a:pPr>
            <a:r>
              <a:t>Runtime ที่ใช้จริง: ONNX Quantized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Tahoma"/>
              </a:defRPr>
            </a:pPr>
            <a:r>
              <a:t>รูปภาพทดสอบมาจาก Hugging Face documentation-images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828800" cy="114300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2029968"/>
            <a:ext cx="15361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365C"/>
                </a:solidFill>
                <a:latin typeface="Tahoma"/>
              </a:rPr>
              <a:t>Client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curl / Postman / JMeter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2359152"/>
            <a:ext cx="411480" cy="21031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1920240"/>
            <a:ext cx="1828800" cy="114300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5224" y="2029968"/>
            <a:ext cx="15361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365C"/>
                </a:solidFill>
                <a:latin typeface="Tahoma"/>
              </a:rPr>
              <a:t>FastAPI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รับ request และตรวจสอบ input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63440" y="2359152"/>
            <a:ext cx="411480" cy="21031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1920240"/>
            <a:ext cx="1828800" cy="114300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4" y="2029968"/>
            <a:ext cx="15361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365C"/>
                </a:solidFill>
                <a:latin typeface="Tahoma"/>
              </a:rPr>
              <a:t>ProcessPoolExecutor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แยกงาน inference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86600" y="2359152"/>
            <a:ext cx="411480" cy="21031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1920240"/>
            <a:ext cx="1828800" cy="114300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8704" y="2029968"/>
            <a:ext cx="15361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365C"/>
                </a:solidFill>
                <a:latin typeface="Tahoma"/>
              </a:rPr>
              <a:t>ONNX Quantized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ประมวลผลโมเดล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46920" y="2359152"/>
            <a:ext cx="411480" cy="21031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12680" y="1920240"/>
            <a:ext cx="1828800" cy="114300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58984" y="2029968"/>
            <a:ext cx="15361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365C"/>
                </a:solidFill>
                <a:latin typeface="Tahoma"/>
              </a:rPr>
              <a:t>JSON Response</a:t>
            </a:r>
          </a:p>
          <a:p>
            <a:pPr>
              <a:spcBef>
                <a:spcPts val="500"/>
              </a:spcBef>
              <a:defRPr sz="1100">
                <a:solidFill>
                  <a:srgbClr val="282828"/>
                </a:solidFill>
                <a:latin typeface="Tahoma"/>
              </a:defRPr>
            </a:pPr>
            <a:r>
              <a:t>ส่งผลลัพธ์กลับ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API เป็น async request layer เพื่อรองรับการรับส่งข้อมูล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Inference เป็นงาน CPU-bound จึงแยกไปทำใน process pool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โมเดลและแอปถูกบรรจุใน Docker เพื่อให้ deploy ได้ง่าย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ผลการ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10515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Runtime</a:t>
                      </a:r>
                    </a:p>
                  </a:txBody>
                  <a:tcPr>
                    <a:solidFill>
                      <a:srgbClr val="32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Model Size</a:t>
                      </a:r>
                    </a:p>
                  </a:txBody>
                  <a:tcPr>
                    <a:solidFill>
                      <a:srgbClr val="32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Avg Latency</a:t>
                      </a:r>
                    </a:p>
                  </a:txBody>
                  <a:tcPr>
                    <a:solidFill>
                      <a:srgbClr val="32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P95 Latency</a:t>
                      </a:r>
                    </a:p>
                  </a:txBody>
                  <a:tcPr>
                    <a:solidFill>
                      <a:srgbClr val="3275B5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PyTorch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21.44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34.43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37.51 ms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ONNX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21.49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55.58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63.64 ms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ONNX Quantized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11.56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47.00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56.47 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703320"/>
            <a:ext cx="4754880" cy="1234440"/>
          </a:xfrm>
          <a:prstGeom prst="roundRect">
            <a:avLst/>
          </a:prstGeom>
          <a:solidFill>
            <a:srgbClr val="70AD4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3813048"/>
            <a:ext cx="446227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ผลลัพธ์สำคัญ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Quantized ลดขนาดโมเดลลงประมาณ 46% จาก ONNX ปกติ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03320"/>
            <a:ext cx="4754880" cy="1234440"/>
          </a:xfrm>
          <a:prstGeom prst="roundRect">
            <a:avLst/>
          </a:prstGeom>
          <a:solidFill>
            <a:srgbClr val="ED7D3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3813048"/>
            <a:ext cx="446227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ข้อสังเกต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Latency ของ ONNX Quantized ดีกว่า ONNX ปกติในเครื่องทดสอบ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API และ 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Tahoma"/>
              </a:defRPr>
            </a:pPr>
            <a:r>
              <a:t>Endpoint หลัก: /predict รับไฟล์รูปภาพแบบ multipart/form-data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Tahoma"/>
              </a:defRPr>
            </a:pPr>
            <a:r>
              <a:t>รองรับไฟล์ JPEG, PNG และ WebP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Tahoma"/>
              </a:defRPr>
            </a:pPr>
            <a:r>
              <a:t>ตรวจสอบไฟล์ว่าง ไฟล์เสีย และขนาดไฟล์ก่อนเข้าโมเดล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Tahoma"/>
              </a:defRPr>
            </a:pPr>
            <a:r>
              <a:t>ตอบกลับ 400 Bad Request เมื่อ input ไม่ถูกต้อง</a:t>
            </a:r>
          </a:p>
          <a:p>
            <a:pPr>
              <a:spcAft>
                <a:spcPts val="800"/>
              </a:spcAft>
              <a:defRPr sz="1900">
                <a:solidFill>
                  <a:srgbClr val="282828"/>
                </a:solidFill>
                <a:latin typeface="Tahoma"/>
              </a:defRPr>
            </a:pPr>
            <a:r>
              <a:t>ตอบกลับ 413 Request Entity Too Large เมื่อไฟล์ใหญ่เกินกำหนด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ผลการทดสอบ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200400" cy="1188720"/>
          </a:xfrm>
          <a:prstGeom prst="roundRect">
            <a:avLst/>
          </a:prstGeom>
          <a:solidFill>
            <a:srgbClr val="70AD4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527048"/>
            <a:ext cx="290779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Unit Test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ผ่าน 3/3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00400" cy="1188720"/>
          </a:xfrm>
          <a:prstGeom prst="roundRect">
            <a:avLst/>
          </a:prstGeom>
          <a:solidFill>
            <a:srgbClr val="70AD4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527048"/>
            <a:ext cx="290779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Docker Test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API รันและทำนายผลได้จริง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200400" cy="1188720"/>
          </a:xfrm>
          <a:prstGeom prst="roundRect">
            <a:avLst/>
          </a:prstGeom>
          <a:solidFill>
            <a:srgbClr val="70AD4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527048"/>
            <a:ext cx="290779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Prediction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runtime: onnx-quantized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97280" y="3291840"/>
          <a:ext cx="98755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49377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Input</a:t>
                      </a:r>
                    </a:p>
                  </a:txBody>
                  <a:tcPr>
                    <a:solidFill>
                      <a:srgbClr val="32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ผลลัพธ์</a:t>
                      </a:r>
                    </a:p>
                  </a:txBody>
                  <a:tcPr>
                    <a:solidFill>
                      <a:srgbClr val="32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sample_images/benchmark.png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tabby cat, Egyptian cat, tiger cat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ไฟล์ text/plain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400 Bad Request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ผลการทดสอบโหลด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28016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หัวข้อ</a:t>
                      </a:r>
                    </a:p>
                  </a:txBody>
                  <a:tcPr>
                    <a:solidFill>
                      <a:srgbClr val="32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</a:rPr>
                        <a:t>ผลการทดสอบ</a:t>
                      </a:r>
                    </a:p>
                  </a:txBody>
                  <a:tcPr>
                    <a:solidFill>
                      <a:srgbClr val="3275B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จำนวน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30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Concurrent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10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30/30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10.32 requests/second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Average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874.90 ms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P95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Tahoma"/>
                        </a:rPr>
                        <a:t>1187.96 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57200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Tahoma"/>
              </a:defRPr>
            </a:pPr>
            <a:r>
              <a:t>ระบบตอบสนองครบทุก request ในชุดทดสอบขนาดเล็ก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Tahoma"/>
              </a:defRPr>
            </a:pPr>
            <a:r>
              <a:t>เมื่อเพิ่ม threads มากขึ้น latency จะสูงขึ้นตามภาระ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CI/CD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2057400" cy="109728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" y="1801368"/>
            <a:ext cx="1764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Push Code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GitHub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35808" y="2148840"/>
            <a:ext cx="411480" cy="21031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691640"/>
            <a:ext cx="2057400" cy="109728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801368"/>
            <a:ext cx="1764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Install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Dependencies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96127" y="2148840"/>
            <a:ext cx="411480" cy="21031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0" y="1691640"/>
            <a:ext cx="2057400" cy="109728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1801368"/>
            <a:ext cx="1764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Test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pytest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56448" y="2148840"/>
            <a:ext cx="411480" cy="210312"/>
          </a:xfrm>
          <a:prstGeom prst="rightArrow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59" y="1691640"/>
            <a:ext cx="2057400" cy="1097280"/>
          </a:xfrm>
          <a:prstGeom prst="roundRect">
            <a:avLst/>
          </a:prstGeom>
          <a:solidFill>
            <a:srgbClr val="E8F2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1663" y="1801368"/>
            <a:ext cx="1764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65C"/>
                </a:solidFill>
                <a:latin typeface="Tahoma"/>
              </a:rPr>
              <a:t>Deploy</a:t>
            </a:r>
          </a:p>
          <a:p>
            <a:pPr>
              <a:spcBef>
                <a:spcPts val="500"/>
              </a:spcBef>
              <a:defRPr sz="1300">
                <a:solidFill>
                  <a:srgbClr val="282828"/>
                </a:solidFill>
                <a:latin typeface="Tahoma"/>
              </a:defRPr>
            </a:pPr>
            <a:r>
              <a:t>Hugging Face 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Workflow อยู่ที่ .github/workflows/ci-cd.yml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รัน unit test ทุกครั้งที่ push หรือ pull request ไปยัง main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Tahoma"/>
              </a:defRPr>
            </a:pPr>
            <a:r>
              <a:t>รองรับ auto-deploy เมื่อกำหนด HF_TOKEN และ HF_SPACE_REPO_ID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Live Demo: API บน Docker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3931920" cy="26044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892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Tahoma"/>
              </a:rPr>
              <a:t>ภาพตัวอย่างจริงที่ใช้ทดสอบ endpoint /predict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417320"/>
            <a:ext cx="603504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12664" y="1527048"/>
            <a:ext cx="574243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365C"/>
                </a:solidFill>
                <a:latin typeface="Tahoma"/>
              </a:rPr>
              <a:t>ขั้นตอน Demo</a:t>
            </a:r>
          </a:p>
          <a:p>
            <a:pPr>
              <a:spcBef>
                <a:spcPts val="500"/>
              </a:spcBef>
              <a:defRPr sz="1500">
                <a:solidFill>
                  <a:srgbClr val="282828"/>
                </a:solidFill>
                <a:latin typeface="Tahoma"/>
              </a:defRPr>
            </a:pPr>
            <a:r>
              <a:t>เปิด Docker API → ส่งรูปภาพ → ตรวจ JSON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880360"/>
            <a:ext cx="603504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12664" y="2990088"/>
            <a:ext cx="574243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365C"/>
                </a:solidFill>
                <a:latin typeface="Tahoma"/>
              </a:rPr>
              <a:t>ผลลัพธ์ที่ได้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  <a:latin typeface="Tahoma"/>
              </a:defRPr>
            </a:pPr>
            <a:r>
              <a:t>model: apple/mobilevit-small | runtime: onnx-quantized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4343400"/>
            <a:ext cx="6035040" cy="1097280"/>
          </a:xfrm>
          <a:prstGeom prst="roundRect">
            <a:avLst/>
          </a:prstGeom>
          <a:solidFill>
            <a:srgbClr val="ED7D3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4453128"/>
            <a:ext cx="574243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365C"/>
                </a:solidFill>
                <a:latin typeface="Tahoma"/>
              </a:rPr>
              <a:t>Top Predictions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  <a:latin typeface="Tahoma"/>
              </a:defRPr>
            </a:pPr>
            <a:r>
              <a:t>tabby cat, Egyptian cat, tiger 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Deliverables ที่จัดทำ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Tahoma"/>
              </a:defRPr>
            </a:pPr>
            <a:r>
              <a:t>Source Code Repository บน GitHub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Tahoma"/>
              </a:defRPr>
            </a:pPr>
            <a:r>
              <a:t>README.md ภาษาไทย พร้อมวิธีใช้งานและ cURL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Tahoma"/>
              </a:defRPr>
            </a:pPr>
            <a:r>
              <a:t>Dockerfile และโมเดล ONNX Quantized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Tahoma"/>
              </a:defRPr>
            </a:pPr>
            <a:r>
              <a:t>GitHub Actions สำหรับ CI/CD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Tahoma"/>
              </a:defRPr>
            </a:pPr>
            <a:r>
              <a:t>Postman Collection และ JMeter Test Plan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Tahoma"/>
              </a:defRPr>
            </a:pPr>
            <a:r>
              <a:t>รายงาน PDF และสไลด์นำเสนอ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365C"/>
                </a:solidFill>
                <a:latin typeface="Tahoma"/>
              </a:rPr>
              <a:t>สรุปผล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6576"/>
          </a:xfrm>
          <a:prstGeom prst="rect">
            <a:avLst/>
          </a:prstGeom>
          <a:solidFill>
            <a:srgbClr val="32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  <a:latin typeface="Tahoma"/>
              </a:defRPr>
            </a:pPr>
            <a:r>
              <a:t>พัฒนา API จำแนกรูปภาพด้วย apple/mobilevit-small ได้สำเร็จ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  <a:latin typeface="Tahoma"/>
              </a:defRPr>
            </a:pPr>
            <a:r>
              <a:t>ระบบใช้งานจริงผ่าน Docker และตอบผลลัพธ์ด้วย ONNX Quantized Runtime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  <a:latin typeface="Tahoma"/>
              </a:defRPr>
            </a:pPr>
            <a:r>
              <a:t>มีการทดสอบ API, error handling, unit test และ load test</a:t>
            </a:r>
          </a:p>
          <a:p>
            <a:pPr>
              <a:spcAft>
                <a:spcPts val="800"/>
              </a:spcAft>
              <a:defRPr sz="2100">
                <a:solidFill>
                  <a:srgbClr val="282828"/>
                </a:solidFill>
                <a:latin typeface="Tahoma"/>
              </a:defRPr>
            </a:pPr>
            <a:r>
              <a:t>เตรียมเอกสารและ pipeline ครบตามข้อกำหนดของงาน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6365C"/>
                </a:solidFill>
                <a:latin typeface="Tahoma"/>
              </a:rPr>
              <a:t>ขอบคุณครับ / ค่ะ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ahoma"/>
              </a:rPr>
              <a:t>MobileViT MLOps |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