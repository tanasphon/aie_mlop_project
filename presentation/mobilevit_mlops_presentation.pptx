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D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960120"/>
            <a:ext cx="1088136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400" b="1">
                <a:solidFill>
                  <a:srgbClr val="16365C"/>
                </a:solidFill>
                <a:latin typeface="Tahoma"/>
              </a:rPr>
              <a:t>High-Throughput Image Classification Service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176272"/>
            <a:ext cx="1024128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0">
                <a:solidFill>
                  <a:srgbClr val="595959"/>
                </a:solidFill>
                <a:latin typeface="Tahoma"/>
              </a:rPr>
              <a:t>ระบบ API จำแนกรูปภาพด้วย FastAPI และโมเดล apple/mobilevit-small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3749039"/>
            <a:ext cx="85953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75104" y="3858768"/>
            <a:ext cx="83027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6365C"/>
                </a:solidFill>
                <a:latin typeface="Tahoma"/>
              </a:rPr>
              <a:t>สมาชิกกลุ่ม</a:t>
            </a:r>
          </a:p>
          <a:p>
            <a:pPr>
              <a:spcBef>
                <a:spcPts val="500"/>
              </a:spcBef>
              <a:defRPr sz="1500">
                <a:solidFill>
                  <a:srgbClr val="282828"/>
                </a:solidFill>
                <a:latin typeface="Tahoma"/>
              </a:defRPr>
            </a:pPr>
            <a:r>
              <a:t>ธนัสถ์ภณ อ่างทอง | จีฮาน สุทธินิพนธ์นาม | อกัณห์ เกษเพชร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46920" y="6446520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Tahoma"/>
              </a:rPr>
              <a:t>MobileViT MLOps |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6365C"/>
                </a:solidFill>
                <a:latin typeface="Tahoma"/>
              </a:rPr>
              <a:t>วัตถุประสงค์ของโปรเจกต์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24128"/>
            <a:ext cx="10972800" cy="36576"/>
          </a:xfrm>
          <a:prstGeom prst="rect">
            <a:avLst/>
          </a:prstGeom>
          <a:solidFill>
            <a:srgbClr val="32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78992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82828"/>
                </a:solidFill>
                <a:latin typeface="Tahoma"/>
              </a:defRPr>
            </a:pPr>
            <a:r>
              <a:t>พัฒนา API สำหรับจำแนกรูปภาพที่สามารถเรียกใช้งานได้จริง</a:t>
            </a:r>
          </a:p>
          <a:p>
            <a:pPr>
              <a:spcAft>
                <a:spcPts val="800"/>
              </a:spcAft>
              <a:defRPr sz="2100">
                <a:solidFill>
                  <a:srgbClr val="282828"/>
                </a:solidFill>
                <a:latin typeface="Tahoma"/>
              </a:defRPr>
            </a:pPr>
            <a:r>
              <a:t>ปรับแต่งโมเดลให้เล็กลงและเหมาะกับ CPU inference</a:t>
            </a:r>
          </a:p>
          <a:p>
            <a:pPr>
              <a:spcAft>
                <a:spcPts val="800"/>
              </a:spcAft>
              <a:defRPr sz="2100">
                <a:solidFill>
                  <a:srgbClr val="282828"/>
                </a:solidFill>
                <a:latin typeface="Tahoma"/>
              </a:defRPr>
            </a:pPr>
            <a:r>
              <a:t>รองรับการเรียกใช้งานพร้อมกันโดยไม่ทำให้ API ค้าง</a:t>
            </a:r>
          </a:p>
          <a:p>
            <a:pPr>
              <a:spcAft>
                <a:spcPts val="800"/>
              </a:spcAft>
              <a:defRPr sz="2100">
                <a:solidFill>
                  <a:srgbClr val="282828"/>
                </a:solidFill>
                <a:latin typeface="Tahoma"/>
              </a:defRPr>
            </a:pPr>
            <a:r>
              <a:t>เตรียม Docker, CI/CD, Postman, JMeter, รายงาน และสไลด์นำเสนอให้ครบตามโจทย์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46920" y="6446520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Tahoma"/>
              </a:rPr>
              <a:t>MobileViT MLOps |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6365C"/>
                </a:solidFill>
                <a:latin typeface="Tahoma"/>
              </a:rPr>
              <a:t>ขั้นตอนการทำโปรเจกต์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24128"/>
            <a:ext cx="10972800" cy="36576"/>
          </a:xfrm>
          <a:prstGeom prst="rect">
            <a:avLst/>
          </a:prstGeom>
          <a:solidFill>
            <a:srgbClr val="32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115568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595959"/>
                </a:solidFill>
                <a:latin typeface="Tahoma"/>
              </a:rPr>
              <a:t>ลำดับงานตั้งแต่เลือกโมเดลจนถึงเตรียมส่งงาน</a:t>
            </a:r>
          </a:p>
        </p:txBody>
      </p:sp>
      <p:sp>
        <p:nvSpPr>
          <p:cNvPr id="5" name="Oval 4"/>
          <p:cNvSpPr/>
          <p:nvPr/>
        </p:nvSpPr>
        <p:spPr>
          <a:xfrm>
            <a:off x="685800" y="1600200"/>
            <a:ext cx="502920" cy="502920"/>
          </a:xfrm>
          <a:prstGeom prst="ellipse">
            <a:avLst/>
          </a:prstGeom>
          <a:solidFill>
            <a:srgbClr val="32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733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Tahoma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25880" y="1554480"/>
            <a:ext cx="2971800" cy="868680"/>
          </a:xfrm>
          <a:prstGeom prst="roundRect">
            <a:avLst/>
          </a:prstGeom>
          <a:solidFill>
            <a:srgbClr val="F2F7FC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72184" y="1664207"/>
            <a:ext cx="2679192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6365C"/>
                </a:solidFill>
                <a:latin typeface="Tahoma"/>
              </a:rPr>
              <a:t>เลือกโมเดล</a:t>
            </a:r>
          </a:p>
          <a:p>
            <a:pPr>
              <a:spcBef>
                <a:spcPts val="500"/>
              </a:spcBef>
              <a:defRPr sz="1100">
                <a:solidFill>
                  <a:srgbClr val="282828"/>
                </a:solidFill>
                <a:latin typeface="Tahoma"/>
              </a:defRPr>
            </a:pPr>
            <a:r>
              <a:t>ใช้ apple/mobilevit-small จาก Hugging Face</a:t>
            </a:r>
          </a:p>
        </p:txBody>
      </p:sp>
      <p:sp>
        <p:nvSpPr>
          <p:cNvPr id="9" name="Oval 8"/>
          <p:cNvSpPr/>
          <p:nvPr/>
        </p:nvSpPr>
        <p:spPr>
          <a:xfrm>
            <a:off x="4160520" y="1600200"/>
            <a:ext cx="502920" cy="502920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60520" y="16733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Tahoma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00600" y="1554480"/>
            <a:ext cx="2971800" cy="868680"/>
          </a:xfrm>
          <a:prstGeom prst="roundRect">
            <a:avLst/>
          </a:prstGeom>
          <a:solidFill>
            <a:srgbClr val="F2F7FC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46904" y="1664207"/>
            <a:ext cx="2679192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6365C"/>
                </a:solidFill>
                <a:latin typeface="Tahoma"/>
              </a:rPr>
              <a:t>Baseline</a:t>
            </a:r>
          </a:p>
          <a:p>
            <a:pPr>
              <a:spcBef>
                <a:spcPts val="500"/>
              </a:spcBef>
              <a:defRPr sz="1100">
                <a:solidFill>
                  <a:srgbClr val="282828"/>
                </a:solidFill>
                <a:latin typeface="Tahoma"/>
              </a:defRPr>
            </a:pPr>
            <a:r>
              <a:t>ทดสอบ PyTorch เพื่อเก็บขนาดและ latency</a:t>
            </a:r>
          </a:p>
        </p:txBody>
      </p:sp>
      <p:sp>
        <p:nvSpPr>
          <p:cNvPr id="13" name="Oval 12"/>
          <p:cNvSpPr/>
          <p:nvPr/>
        </p:nvSpPr>
        <p:spPr>
          <a:xfrm>
            <a:off x="7635240" y="1600200"/>
            <a:ext cx="502920" cy="502920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35240" y="16733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Tahoma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19" y="1554480"/>
            <a:ext cx="2971800" cy="868680"/>
          </a:xfrm>
          <a:prstGeom prst="roundRect">
            <a:avLst/>
          </a:prstGeom>
          <a:solidFill>
            <a:srgbClr val="F2F7FC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21624" y="1664207"/>
            <a:ext cx="2679192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6365C"/>
                </a:solidFill>
                <a:latin typeface="Tahoma"/>
              </a:rPr>
              <a:t>ONNX</a:t>
            </a:r>
          </a:p>
          <a:p>
            <a:pPr>
              <a:spcBef>
                <a:spcPts val="500"/>
              </a:spcBef>
              <a:defRPr sz="1100">
                <a:solidFill>
                  <a:srgbClr val="282828"/>
                </a:solidFill>
                <a:latin typeface="Tahoma"/>
              </a:defRPr>
            </a:pPr>
            <a:r>
              <a:t>แปลงโมเดลให้เหมาะกับ inference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3794760" y="1874519"/>
            <a:ext cx="594360" cy="228600"/>
          </a:xfrm>
          <a:prstGeom prst="rightArrow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ight Arrow 17"/>
          <p:cNvSpPr/>
          <p:nvPr/>
        </p:nvSpPr>
        <p:spPr>
          <a:xfrm>
            <a:off x="7269480" y="1874519"/>
            <a:ext cx="594360" cy="228600"/>
          </a:xfrm>
          <a:prstGeom prst="rightArrow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3749039"/>
            <a:ext cx="502920" cy="502920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822191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Tahoma"/>
              </a:rPr>
              <a:t>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25880" y="3703320"/>
            <a:ext cx="2971800" cy="868680"/>
          </a:xfrm>
          <a:prstGeom prst="roundRect">
            <a:avLst/>
          </a:prstGeom>
          <a:solidFill>
            <a:srgbClr val="F2F7FC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72184" y="3813048"/>
            <a:ext cx="2679192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6365C"/>
                </a:solidFill>
                <a:latin typeface="Tahoma"/>
              </a:rPr>
              <a:t>Quantization</a:t>
            </a:r>
          </a:p>
          <a:p>
            <a:pPr>
              <a:spcBef>
                <a:spcPts val="500"/>
              </a:spcBef>
              <a:defRPr sz="1100">
                <a:solidFill>
                  <a:srgbClr val="282828"/>
                </a:solidFill>
                <a:latin typeface="Tahoma"/>
              </a:defRPr>
            </a:pPr>
            <a:r>
              <a:t>ลดขนาดโมเดลด้วย Dynamic Quantization</a:t>
            </a:r>
          </a:p>
        </p:txBody>
      </p:sp>
      <p:sp>
        <p:nvSpPr>
          <p:cNvPr id="23" name="Oval 22"/>
          <p:cNvSpPr/>
          <p:nvPr/>
        </p:nvSpPr>
        <p:spPr>
          <a:xfrm>
            <a:off x="4160520" y="3749039"/>
            <a:ext cx="502920" cy="502920"/>
          </a:xfrm>
          <a:prstGeom prst="ellipse">
            <a:avLst/>
          </a:prstGeom>
          <a:solidFill>
            <a:srgbClr val="32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60520" y="3822191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Tahoma"/>
              </a:rPr>
              <a:t>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00600" y="3703320"/>
            <a:ext cx="2971800" cy="868680"/>
          </a:xfrm>
          <a:prstGeom prst="roundRect">
            <a:avLst/>
          </a:prstGeom>
          <a:solidFill>
            <a:srgbClr val="F2F7FC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46904" y="3813048"/>
            <a:ext cx="2679192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6365C"/>
                </a:solidFill>
                <a:latin typeface="Tahoma"/>
              </a:rPr>
              <a:t>FastAPI + Docker</a:t>
            </a:r>
          </a:p>
          <a:p>
            <a:pPr>
              <a:spcBef>
                <a:spcPts val="500"/>
              </a:spcBef>
              <a:defRPr sz="1100">
                <a:solidFill>
                  <a:srgbClr val="282828"/>
                </a:solidFill>
                <a:latin typeface="Tahoma"/>
              </a:defRPr>
            </a:pPr>
            <a:r>
              <a:t>สร้าง API, validation และ container</a:t>
            </a:r>
          </a:p>
        </p:txBody>
      </p:sp>
      <p:sp>
        <p:nvSpPr>
          <p:cNvPr id="27" name="Oval 26"/>
          <p:cNvSpPr/>
          <p:nvPr/>
        </p:nvSpPr>
        <p:spPr>
          <a:xfrm>
            <a:off x="7635240" y="3749039"/>
            <a:ext cx="502920" cy="502920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35240" y="3822191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Tahoma"/>
              </a:rPr>
              <a:t>6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75319" y="3703320"/>
            <a:ext cx="2971800" cy="868680"/>
          </a:xfrm>
          <a:prstGeom prst="roundRect">
            <a:avLst/>
          </a:prstGeom>
          <a:solidFill>
            <a:srgbClr val="F2F7FC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21624" y="3813048"/>
            <a:ext cx="2679192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6365C"/>
                </a:solidFill>
                <a:latin typeface="Tahoma"/>
              </a:rPr>
              <a:t>Test + Report</a:t>
            </a:r>
          </a:p>
          <a:p>
            <a:pPr>
              <a:spcBef>
                <a:spcPts val="500"/>
              </a:spcBef>
              <a:defRPr sz="1100">
                <a:solidFill>
                  <a:srgbClr val="282828"/>
                </a:solidFill>
                <a:latin typeface="Tahoma"/>
              </a:defRPr>
            </a:pPr>
            <a:r>
              <a:t>ทดสอบ API, load test และสรุปผล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3794760" y="4023360"/>
            <a:ext cx="594360" cy="228600"/>
          </a:xfrm>
          <a:prstGeom prst="rightArrow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ight Arrow 31"/>
          <p:cNvSpPr/>
          <p:nvPr/>
        </p:nvSpPr>
        <p:spPr>
          <a:xfrm>
            <a:off x="7269480" y="4023360"/>
            <a:ext cx="594360" cy="228600"/>
          </a:xfrm>
          <a:prstGeom prst="rightArrow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46920" y="6446520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Tahoma"/>
              </a:rPr>
              <a:t>MobileViT MLOps |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6365C"/>
                </a:solidFill>
                <a:latin typeface="Tahoma"/>
              </a:rPr>
              <a:t>Workflow การทำงานของระบบ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24128"/>
            <a:ext cx="10972800" cy="36576"/>
          </a:xfrm>
          <a:prstGeom prst="rect">
            <a:avLst/>
          </a:prstGeom>
          <a:solidFill>
            <a:srgbClr val="32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874519"/>
            <a:ext cx="2148840" cy="1234440"/>
          </a:xfrm>
          <a:prstGeom prst="roundRect">
            <a:avLst/>
          </a:prstGeom>
          <a:solidFill>
            <a:srgbClr val="E8F2FA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984248"/>
            <a:ext cx="1856232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6365C"/>
                </a:solidFill>
                <a:latin typeface="Tahoma"/>
              </a:rPr>
              <a:t>รูปภาพ</a:t>
            </a:r>
          </a:p>
          <a:p>
            <a:pPr>
              <a:spcBef>
                <a:spcPts val="500"/>
              </a:spcBef>
              <a:defRPr sz="1200">
                <a:solidFill>
                  <a:srgbClr val="282828"/>
                </a:solidFill>
                <a:latin typeface="Tahoma"/>
              </a:defRPr>
            </a:pPr>
            <a:r>
              <a:t>ผู้ใช้ส่งไฟล์ภาพจริง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944368" y="2377440"/>
            <a:ext cx="658368" cy="256032"/>
          </a:xfrm>
          <a:prstGeom prst="rightArrow">
            <a:avLst/>
          </a:prstGeom>
          <a:solidFill>
            <a:srgbClr val="32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566160" y="1874519"/>
            <a:ext cx="2148840" cy="1234440"/>
          </a:xfrm>
          <a:prstGeom prst="roundRect">
            <a:avLst/>
          </a:prstGeom>
          <a:solidFill>
            <a:srgbClr val="E8F2FA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12463" y="1984248"/>
            <a:ext cx="1856232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6365C"/>
                </a:solidFill>
                <a:latin typeface="Tahoma"/>
              </a:rPr>
              <a:t>Validation</a:t>
            </a:r>
          </a:p>
          <a:p>
            <a:pPr>
              <a:spcBef>
                <a:spcPts val="500"/>
              </a:spcBef>
              <a:defRPr sz="1200">
                <a:solidFill>
                  <a:srgbClr val="282828"/>
                </a:solidFill>
                <a:latin typeface="Tahoma"/>
              </a:defRPr>
            </a:pPr>
            <a:r>
              <a:t>ตรวจชนิดไฟล์ ขนาด และไฟล์เสีย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779008" y="2377440"/>
            <a:ext cx="658368" cy="256032"/>
          </a:xfrm>
          <a:prstGeom prst="rightArrow">
            <a:avLst/>
          </a:prstGeom>
          <a:solidFill>
            <a:srgbClr val="32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0" y="1874519"/>
            <a:ext cx="2148840" cy="1234440"/>
          </a:xfrm>
          <a:prstGeom prst="roundRect">
            <a:avLst/>
          </a:prstGeom>
          <a:solidFill>
            <a:srgbClr val="E8F2FA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47104" y="1984248"/>
            <a:ext cx="1856232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6365C"/>
                </a:solidFill>
                <a:latin typeface="Tahoma"/>
              </a:rPr>
              <a:t>Inference</a:t>
            </a:r>
          </a:p>
          <a:p>
            <a:pPr>
              <a:spcBef>
                <a:spcPts val="500"/>
              </a:spcBef>
              <a:defRPr sz="1200">
                <a:solidFill>
                  <a:srgbClr val="282828"/>
                </a:solidFill>
                <a:latin typeface="Tahoma"/>
              </a:defRPr>
            </a:pPr>
            <a:r>
              <a:t>ประมวลผลด้วย ONNX Quantized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613648" y="2377440"/>
            <a:ext cx="658368" cy="256032"/>
          </a:xfrm>
          <a:prstGeom prst="rightArrow">
            <a:avLst/>
          </a:prstGeom>
          <a:solidFill>
            <a:srgbClr val="32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235440" y="1874519"/>
            <a:ext cx="2148840" cy="1234440"/>
          </a:xfrm>
          <a:prstGeom prst="roundRect">
            <a:avLst/>
          </a:prstGeom>
          <a:solidFill>
            <a:srgbClr val="E8F2FA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81744" y="1984248"/>
            <a:ext cx="1856232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6365C"/>
                </a:solidFill>
                <a:latin typeface="Tahoma"/>
              </a:rPr>
              <a:t>Response</a:t>
            </a:r>
          </a:p>
          <a:p>
            <a:pPr>
              <a:spcBef>
                <a:spcPts val="500"/>
              </a:spcBef>
              <a:defRPr sz="1200">
                <a:solidFill>
                  <a:srgbClr val="282828"/>
                </a:solidFill>
                <a:latin typeface="Tahoma"/>
              </a:defRPr>
            </a:pPr>
            <a:r>
              <a:t>ส่ง label และ score เป็น JSON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977639"/>
            <a:ext cx="1078992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  <a:latin typeface="Tahoma"/>
              </a:defRPr>
            </a:pPr>
            <a:r>
              <a:t>FastAPI ทำหน้าที่รับ request และควบคุม response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  <a:latin typeface="Tahoma"/>
              </a:defRPr>
            </a:pPr>
            <a:r>
              <a:t>ProcessPoolExecutor แยกงาน inference ที่ใช้ CPU ออกจาก event loop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  <a:latin typeface="Tahoma"/>
              </a:defRPr>
            </a:pPr>
            <a:r>
              <a:t>Docker ทำให้ระบบรันซ้ำได้ง่ายทั้ง local และ cloud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46920" y="6446520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Tahoma"/>
              </a:rPr>
              <a:t>MobileViT MLOps |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6365C"/>
                </a:solidFill>
                <a:latin typeface="Tahoma"/>
              </a:rPr>
              <a:t>โมเดลที่เลือกใช้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24128"/>
            <a:ext cx="10972800" cy="36576"/>
          </a:xfrm>
          <a:prstGeom prst="rect">
            <a:avLst/>
          </a:prstGeom>
          <a:solidFill>
            <a:srgbClr val="32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115568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595959"/>
                </a:solidFill>
                <a:latin typeface="Tahoma"/>
              </a:rPr>
              <a:t>apple/mobilevit-small จาก Hugging Face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554480"/>
            <a:ext cx="3291840" cy="1234440"/>
          </a:xfrm>
          <a:prstGeom prst="roundRect">
            <a:avLst/>
          </a:prstGeom>
          <a:solidFill>
            <a:srgbClr val="DDEBF7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664207"/>
            <a:ext cx="2999232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6365C"/>
                </a:solidFill>
                <a:latin typeface="Tahoma"/>
              </a:rPr>
              <a:t>Lightweight</a:t>
            </a:r>
          </a:p>
          <a:p>
            <a:pPr>
              <a:spcBef>
                <a:spcPts val="500"/>
              </a:spcBef>
              <a:defRPr sz="1300">
                <a:solidFill>
                  <a:srgbClr val="282828"/>
                </a:solidFill>
                <a:latin typeface="Tahoma"/>
              </a:defRPr>
            </a:pPr>
            <a:r>
              <a:t>ขนาดไม่ใหญ่มาก เหมาะกับ CPU inference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554480"/>
            <a:ext cx="3291840" cy="1234440"/>
          </a:xfrm>
          <a:prstGeom prst="roundRect">
            <a:avLst/>
          </a:prstGeom>
          <a:solidFill>
            <a:srgbClr val="DDEBF7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81144" y="1664207"/>
            <a:ext cx="2999232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6365C"/>
                </a:solidFill>
                <a:latin typeface="Tahoma"/>
              </a:rPr>
              <a:t>CNN + Transformer</a:t>
            </a:r>
          </a:p>
          <a:p>
            <a:pPr>
              <a:spcBef>
                <a:spcPts val="500"/>
              </a:spcBef>
              <a:defRPr sz="1300">
                <a:solidFill>
                  <a:srgbClr val="282828"/>
                </a:solidFill>
                <a:latin typeface="Tahoma"/>
              </a:defRPr>
            </a:pPr>
            <a:r>
              <a:t>เรียนรู้ทั้งรายละเอียดเฉพาะจุดและภาพรวม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1554480"/>
            <a:ext cx="3291840" cy="1234440"/>
          </a:xfrm>
          <a:prstGeom prst="roundRect">
            <a:avLst/>
          </a:prstGeom>
          <a:solidFill>
            <a:srgbClr val="DDEBF7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38744" y="1664207"/>
            <a:ext cx="2999232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6365C"/>
                </a:solidFill>
                <a:latin typeface="Tahoma"/>
              </a:rPr>
              <a:t>API Ready</a:t>
            </a:r>
          </a:p>
          <a:p>
            <a:pPr>
              <a:spcBef>
                <a:spcPts val="500"/>
              </a:spcBef>
              <a:defRPr sz="1300">
                <a:solidFill>
                  <a:srgbClr val="282828"/>
                </a:solidFill>
                <a:latin typeface="Tahoma"/>
              </a:defRPr>
            </a:pPr>
            <a:r>
              <a:t>นำไปใช้กับระบบ FastAPI และ Docker ได้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429000"/>
            <a:ext cx="1078992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82828"/>
                </a:solidFill>
                <a:latin typeface="Tahoma"/>
              </a:defRPr>
            </a:pPr>
            <a:r>
              <a:t>งานที่ใช้: Image Classification</a:t>
            </a:r>
          </a:p>
          <a:p>
            <a:pPr>
              <a:spcAft>
                <a:spcPts val="800"/>
              </a:spcAft>
              <a:defRPr sz="1900">
                <a:solidFill>
                  <a:srgbClr val="282828"/>
                </a:solidFill>
                <a:latin typeface="Tahoma"/>
              </a:defRPr>
            </a:pPr>
            <a:r>
              <a:t>Runtime ที่ใช้จริง: ONNX Quantized</a:t>
            </a:r>
          </a:p>
          <a:p>
            <a:pPr>
              <a:spcAft>
                <a:spcPts val="800"/>
              </a:spcAft>
              <a:defRPr sz="1900">
                <a:solidFill>
                  <a:srgbClr val="282828"/>
                </a:solidFill>
                <a:latin typeface="Tahoma"/>
              </a:defRPr>
            </a:pPr>
            <a:r>
              <a:t>รูปภาพทดสอบมาจาก Hugging Face documentation-images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6446520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Tahoma"/>
              </a:rPr>
              <a:t>MobileViT MLOps |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6365C"/>
                </a:solidFill>
                <a:latin typeface="Tahoma"/>
              </a:rPr>
              <a:t>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24128"/>
            <a:ext cx="10972800" cy="36576"/>
          </a:xfrm>
          <a:prstGeom prst="rect">
            <a:avLst/>
          </a:prstGeom>
          <a:solidFill>
            <a:srgbClr val="32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920240"/>
            <a:ext cx="1828800" cy="1143000"/>
          </a:xfrm>
          <a:prstGeom prst="roundRect">
            <a:avLst/>
          </a:prstGeom>
          <a:solidFill>
            <a:srgbClr val="E8F2FA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" y="2029968"/>
            <a:ext cx="1536192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6365C"/>
                </a:solidFill>
                <a:latin typeface="Tahoma"/>
              </a:rPr>
              <a:t>Client</a:t>
            </a:r>
          </a:p>
          <a:p>
            <a:pPr>
              <a:spcBef>
                <a:spcPts val="500"/>
              </a:spcBef>
              <a:defRPr sz="1100">
                <a:solidFill>
                  <a:srgbClr val="282828"/>
                </a:solidFill>
                <a:latin typeface="Tahoma"/>
              </a:defRPr>
            </a:pPr>
            <a:r>
              <a:t>curl / Postman / JMeter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377439" y="2359152"/>
            <a:ext cx="411480" cy="210312"/>
          </a:xfrm>
          <a:prstGeom prst="rightArrow">
            <a:avLst/>
          </a:prstGeom>
          <a:solidFill>
            <a:srgbClr val="32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88920" y="1920240"/>
            <a:ext cx="1828800" cy="1143000"/>
          </a:xfrm>
          <a:prstGeom prst="roundRect">
            <a:avLst/>
          </a:prstGeom>
          <a:solidFill>
            <a:srgbClr val="E8F2FA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35224" y="2029968"/>
            <a:ext cx="1536192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6365C"/>
                </a:solidFill>
                <a:latin typeface="Tahoma"/>
              </a:rPr>
              <a:t>FastAPI</a:t>
            </a:r>
          </a:p>
          <a:p>
            <a:pPr>
              <a:spcBef>
                <a:spcPts val="500"/>
              </a:spcBef>
              <a:defRPr sz="1100">
                <a:solidFill>
                  <a:srgbClr val="282828"/>
                </a:solidFill>
                <a:latin typeface="Tahoma"/>
              </a:defRPr>
            </a:pPr>
            <a:r>
              <a:t>รับ request และตรวจสอบ input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663440" y="2359152"/>
            <a:ext cx="411480" cy="210312"/>
          </a:xfrm>
          <a:prstGeom prst="rightArrow">
            <a:avLst/>
          </a:prstGeom>
          <a:solidFill>
            <a:srgbClr val="32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212080" y="1920240"/>
            <a:ext cx="1828800" cy="1143000"/>
          </a:xfrm>
          <a:prstGeom prst="roundRect">
            <a:avLst/>
          </a:prstGeom>
          <a:solidFill>
            <a:srgbClr val="E8F2FA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58384" y="2029968"/>
            <a:ext cx="1536192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6365C"/>
                </a:solidFill>
                <a:latin typeface="Tahoma"/>
              </a:rPr>
              <a:t>ProcessPoolExecutor</a:t>
            </a:r>
          </a:p>
          <a:p>
            <a:pPr>
              <a:spcBef>
                <a:spcPts val="500"/>
              </a:spcBef>
              <a:defRPr sz="1100">
                <a:solidFill>
                  <a:srgbClr val="282828"/>
                </a:solidFill>
                <a:latin typeface="Tahoma"/>
              </a:defRPr>
            </a:pPr>
            <a:r>
              <a:t>แยกงาน inference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086600" y="2359152"/>
            <a:ext cx="411480" cy="210312"/>
          </a:xfrm>
          <a:prstGeom prst="rightArrow">
            <a:avLst/>
          </a:prstGeom>
          <a:solidFill>
            <a:srgbClr val="32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0" y="1920240"/>
            <a:ext cx="1828800" cy="1143000"/>
          </a:xfrm>
          <a:prstGeom prst="roundRect">
            <a:avLst/>
          </a:prstGeom>
          <a:solidFill>
            <a:srgbClr val="E8F2FA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18704" y="2029968"/>
            <a:ext cx="1536192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6365C"/>
                </a:solidFill>
                <a:latin typeface="Tahoma"/>
              </a:rPr>
              <a:t>ONNX Quantized</a:t>
            </a:r>
          </a:p>
          <a:p>
            <a:pPr>
              <a:spcBef>
                <a:spcPts val="500"/>
              </a:spcBef>
              <a:defRPr sz="1100">
                <a:solidFill>
                  <a:srgbClr val="282828"/>
                </a:solidFill>
                <a:latin typeface="Tahoma"/>
              </a:defRPr>
            </a:pPr>
            <a:r>
              <a:t>ประมวลผลโมเดล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646920" y="2359152"/>
            <a:ext cx="411480" cy="210312"/>
          </a:xfrm>
          <a:prstGeom prst="rightArrow">
            <a:avLst/>
          </a:prstGeom>
          <a:solidFill>
            <a:srgbClr val="32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012680" y="1920240"/>
            <a:ext cx="1828800" cy="1143000"/>
          </a:xfrm>
          <a:prstGeom prst="roundRect">
            <a:avLst/>
          </a:prstGeom>
          <a:solidFill>
            <a:srgbClr val="E8F2FA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58984" y="2029968"/>
            <a:ext cx="1536192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6365C"/>
                </a:solidFill>
                <a:latin typeface="Tahoma"/>
              </a:rPr>
              <a:t>JSON Response</a:t>
            </a:r>
          </a:p>
          <a:p>
            <a:pPr>
              <a:spcBef>
                <a:spcPts val="500"/>
              </a:spcBef>
              <a:defRPr sz="1100">
                <a:solidFill>
                  <a:srgbClr val="282828"/>
                </a:solidFill>
                <a:latin typeface="Tahoma"/>
              </a:defRPr>
            </a:pPr>
            <a:r>
              <a:t>ส่งผลลัพธ์กลับ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840480"/>
            <a:ext cx="1078992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  <a:latin typeface="Tahoma"/>
              </a:defRPr>
            </a:pPr>
            <a:r>
              <a:t>API เป็น async request layer เพื่อรองรับการรับส่งข้อมูล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  <a:latin typeface="Tahoma"/>
              </a:defRPr>
            </a:pPr>
            <a:r>
              <a:t>Inference เป็นงาน CPU-bound จึงแยกไปทำใน process pool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  <a:latin typeface="Tahoma"/>
              </a:defRPr>
            </a:pPr>
            <a:r>
              <a:t>โมเดลและแอปถูกบรรจุใน Docker เพื่อให้ deploy ได้ง่าย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46920" y="6446520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Tahoma"/>
              </a:rPr>
              <a:t>MobileViT MLOps |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6365C"/>
                </a:solidFill>
                <a:latin typeface="Tahoma"/>
              </a:rPr>
              <a:t>ผลการ Optimization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24128"/>
            <a:ext cx="10972800" cy="36576"/>
          </a:xfrm>
          <a:prstGeom prst="rect">
            <a:avLst/>
          </a:prstGeom>
          <a:solidFill>
            <a:srgbClr val="32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417320"/>
          <a:ext cx="1051560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Tahoma"/>
                        </a:rPr>
                        <a:t>Runtime</a:t>
                      </a:r>
                    </a:p>
                  </a:txBody>
                  <a:tcPr>
                    <a:solidFill>
                      <a:srgbClr val="3275B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Tahoma"/>
                        </a:rPr>
                        <a:t>Model Size</a:t>
                      </a:r>
                    </a:p>
                  </a:txBody>
                  <a:tcPr>
                    <a:solidFill>
                      <a:srgbClr val="3275B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Tahoma"/>
                        </a:rPr>
                        <a:t>Avg Latency</a:t>
                      </a:r>
                    </a:p>
                  </a:txBody>
                  <a:tcPr>
                    <a:solidFill>
                      <a:srgbClr val="3275B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Tahoma"/>
                        </a:rPr>
                        <a:t>P95 Latency</a:t>
                      </a:r>
                    </a:p>
                  </a:txBody>
                  <a:tcPr>
                    <a:solidFill>
                      <a:srgbClr val="3275B5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82828"/>
                          </a:solidFill>
                          <a:latin typeface="Tahoma"/>
                        </a:rPr>
                        <a:t>PyTorch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82828"/>
                          </a:solidFill>
                          <a:latin typeface="Tahoma"/>
                        </a:rPr>
                        <a:t>21.44 MB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82828"/>
                          </a:solidFill>
                          <a:latin typeface="Tahoma"/>
                        </a:rPr>
                        <a:t>34.43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82828"/>
                          </a:solidFill>
                          <a:latin typeface="Tahoma"/>
                        </a:rPr>
                        <a:t>37.51 ms</a:t>
                      </a:r>
                    </a:p>
                  </a:txBody>
                  <a:tcPr/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82828"/>
                          </a:solidFill>
                          <a:latin typeface="Tahoma"/>
                        </a:rPr>
                        <a:t>ONNX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82828"/>
                          </a:solidFill>
                          <a:latin typeface="Tahoma"/>
                        </a:rPr>
                        <a:t>21.49 MB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82828"/>
                          </a:solidFill>
                          <a:latin typeface="Tahoma"/>
                        </a:rPr>
                        <a:t>55.58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82828"/>
                          </a:solidFill>
                          <a:latin typeface="Tahoma"/>
                        </a:rPr>
                        <a:t>63.64 ms</a:t>
                      </a:r>
                    </a:p>
                  </a:txBody>
                  <a:tcPr/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82828"/>
                          </a:solidFill>
                          <a:latin typeface="Tahoma"/>
                        </a:rPr>
                        <a:t>ONNX Quantized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82828"/>
                          </a:solidFill>
                          <a:latin typeface="Tahoma"/>
                        </a:rPr>
                        <a:t>11.56 MB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82828"/>
                          </a:solidFill>
                          <a:latin typeface="Tahoma"/>
                        </a:rPr>
                        <a:t>47.00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82828"/>
                          </a:solidFill>
                          <a:latin typeface="Tahoma"/>
                        </a:rPr>
                        <a:t>56.47 ms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914400" y="3703320"/>
            <a:ext cx="4754880" cy="1234440"/>
          </a:xfrm>
          <a:prstGeom prst="roundRect">
            <a:avLst/>
          </a:prstGeom>
          <a:solidFill>
            <a:srgbClr val="70AD47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" y="3813048"/>
            <a:ext cx="4462272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6365C"/>
                </a:solidFill>
                <a:latin typeface="Tahoma"/>
              </a:rPr>
              <a:t>ผลลัพธ์สำคัญ</a:t>
            </a:r>
          </a:p>
          <a:p>
            <a:pPr>
              <a:spcBef>
                <a:spcPts val="500"/>
              </a:spcBef>
              <a:defRPr sz="1300">
                <a:solidFill>
                  <a:srgbClr val="282828"/>
                </a:solidFill>
                <a:latin typeface="Tahoma"/>
              </a:defRPr>
            </a:pPr>
            <a:r>
              <a:t>Quantized ลดขนาดโมเดลลงประมาณ 46% จาก ONNX ปกติ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3703320"/>
            <a:ext cx="4754880" cy="1234440"/>
          </a:xfrm>
          <a:prstGeom prst="roundRect">
            <a:avLst/>
          </a:prstGeom>
          <a:solidFill>
            <a:srgbClr val="ED7D31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47104" y="3813048"/>
            <a:ext cx="4462272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6365C"/>
                </a:solidFill>
                <a:latin typeface="Tahoma"/>
              </a:rPr>
              <a:t>ข้อสังเกต</a:t>
            </a:r>
          </a:p>
          <a:p>
            <a:pPr>
              <a:spcBef>
                <a:spcPts val="500"/>
              </a:spcBef>
              <a:defRPr sz="1300">
                <a:solidFill>
                  <a:srgbClr val="282828"/>
                </a:solidFill>
                <a:latin typeface="Tahoma"/>
              </a:defRPr>
            </a:pPr>
            <a:r>
              <a:t>Latency ของ ONNX Quantized ดีกว่า ONNX ปกติในเครื่องทดสอบ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20" y="6446520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Tahoma"/>
              </a:rPr>
              <a:t>MobileViT MLOps |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6365C"/>
                </a:solidFill>
                <a:latin typeface="Tahoma"/>
              </a:rPr>
              <a:t>ที่มาของข้อมูลและผลลัพธ์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24128"/>
            <a:ext cx="10972800" cy="36576"/>
          </a:xfrm>
          <a:prstGeom prst="rect">
            <a:avLst/>
          </a:prstGeom>
          <a:solidFill>
            <a:srgbClr val="32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115568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595959"/>
                </a:solidFill>
                <a:latin typeface="Tahoma"/>
              </a:rPr>
              <a:t>อธิบายว่าตัวเลขในสไลด์มาจากการทดสอบส่วนใด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463040"/>
          <a:ext cx="1069848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566160"/>
                <a:gridCol w="3566160"/>
              </a:tblGrid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Tahoma"/>
                        </a:rPr>
                        <a:t>ผลลัพธ์</a:t>
                      </a:r>
                    </a:p>
                  </a:txBody>
                  <a:tcPr>
                    <a:solidFill>
                      <a:srgbClr val="3275B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Tahoma"/>
                        </a:rPr>
                        <a:t>ที่มา</a:t>
                      </a:r>
                    </a:p>
                  </a:txBody>
                  <a:tcPr>
                    <a:solidFill>
                      <a:srgbClr val="3275B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Tahoma"/>
                        </a:rPr>
                        <a:t>นำไปใช้ในสไลด์</a:t>
                      </a:r>
                    </a:p>
                  </a:txBody>
                  <a:tcPr>
                    <a:solidFill>
                      <a:srgbClr val="3275B5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82828"/>
                          </a:solidFill>
                          <a:latin typeface="Tahoma"/>
                        </a:rPr>
                        <a:t>Model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82828"/>
                          </a:solidFill>
                          <a:latin typeface="Tahoma"/>
                        </a:rPr>
                        <a:t>ขนาดไฟล์โมเดลในโฟลเดอร์ models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82828"/>
                          </a:solidFill>
                          <a:latin typeface="Tahoma"/>
                        </a:rPr>
                        <a:t>เปรียบเทียบ PyTorch / ONNX / Quantized</a:t>
                      </a:r>
                    </a:p>
                  </a:txBody>
                  <a:tcPr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82828"/>
                          </a:solidFill>
                          <a:latin typeface="Tahoma"/>
                        </a:rPr>
                        <a:t>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82828"/>
                          </a:solidFill>
                          <a:latin typeface="Tahoma"/>
                        </a:rPr>
                        <a:t>จับเวลาการ inference ด้วยรูปภาพ benchmark.png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82828"/>
                          </a:solidFill>
                          <a:latin typeface="Tahoma"/>
                        </a:rPr>
                        <a:t>ประเมินความเร็วของแต่ละ runtime</a:t>
                      </a:r>
                    </a:p>
                  </a:txBody>
                  <a:tcPr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82828"/>
                          </a:solidFill>
                          <a:latin typeface="Tahoma"/>
                        </a:rPr>
                        <a:t>Prediction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82828"/>
                          </a:solidFill>
                          <a:latin typeface="Tahoma"/>
                        </a:rPr>
                        <a:t>เรียก endpoint /predict ด้วยรูปภาพจริง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82828"/>
                          </a:solidFill>
                          <a:latin typeface="Tahoma"/>
                        </a:rPr>
                        <a:t>ยืนยันว่า API ใช้งานได้จริง</a:t>
                      </a:r>
                    </a:p>
                  </a:txBody>
                  <a:tcPr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82828"/>
                          </a:solidFill>
                          <a:latin typeface="Tahoma"/>
                        </a:rPr>
                        <a:t>Load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82828"/>
                          </a:solidFill>
                          <a:latin typeface="Tahoma"/>
                        </a:rPr>
                        <a:t>ส่ง request พร้อมกันหลายรายการ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82828"/>
                          </a:solidFill>
                          <a:latin typeface="Tahoma"/>
                        </a:rPr>
                        <a:t>วิเคราะห์ throughput และ P95 latency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4343400"/>
            <a:ext cx="1078992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82828"/>
                </a:solidFill>
                <a:latin typeface="Tahoma"/>
              </a:defRPr>
            </a:pPr>
            <a:r>
              <a:t>รูปภาพทดสอบเป็นภาพแมวจาก Hugging Face documentation-images</a:t>
            </a:r>
          </a:p>
          <a:p>
            <a:pPr>
              <a:spcAft>
                <a:spcPts val="800"/>
              </a:spcAft>
              <a:defRPr sz="1600">
                <a:solidFill>
                  <a:srgbClr val="282828"/>
                </a:solidFill>
                <a:latin typeface="Tahoma"/>
              </a:defRPr>
            </a:pPr>
            <a:r>
              <a:t>ผลลัพธ์ benchmark ถูกบันทึกไว้ใน models/benchmark_results.json</a:t>
            </a:r>
          </a:p>
          <a:p>
            <a:pPr>
              <a:spcAft>
                <a:spcPts val="800"/>
              </a:spcAft>
              <a:defRPr sz="1600">
                <a:solidFill>
                  <a:srgbClr val="282828"/>
                </a:solidFill>
                <a:latin typeface="Tahoma"/>
              </a:defRPr>
            </a:pPr>
            <a:r>
              <a:t>ผล API ยืนยันจาก JSON response ที่มี model: apple/mobilevit-small และ runtime: onnx-quantized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46920" y="6446520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Tahoma"/>
              </a:rPr>
              <a:t>MobileViT MLOps |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6365C"/>
                </a:solidFill>
                <a:latin typeface="Tahoma"/>
              </a:rPr>
              <a:t>วิธีวัดประสิทธิภาพของโมเดล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24128"/>
            <a:ext cx="10972800" cy="36576"/>
          </a:xfrm>
          <a:prstGeom prst="rect">
            <a:avLst/>
          </a:prstGeom>
          <a:solidFill>
            <a:srgbClr val="32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3474720" cy="1234440"/>
          </a:xfrm>
          <a:prstGeom prst="roundRect">
            <a:avLst/>
          </a:prstGeom>
          <a:solidFill>
            <a:srgbClr val="E8F2FA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527048"/>
            <a:ext cx="3182112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6365C"/>
                </a:solidFill>
                <a:latin typeface="Tahoma"/>
              </a:rPr>
              <a:t>1. Baseline</a:t>
            </a:r>
          </a:p>
          <a:p>
            <a:pPr>
              <a:spcBef>
                <a:spcPts val="500"/>
              </a:spcBef>
              <a:defRPr sz="1300">
                <a:solidFill>
                  <a:srgbClr val="282828"/>
                </a:solidFill>
                <a:latin typeface="Tahoma"/>
              </a:defRPr>
            </a:pPr>
            <a:r>
              <a:t>โหลดโมเดล PyTorch ต้นฉบับและวัดขนาด/เวลา inference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417320"/>
            <a:ext cx="3474720" cy="1234440"/>
          </a:xfrm>
          <a:prstGeom prst="roundRect">
            <a:avLst/>
          </a:prstGeom>
          <a:solidFill>
            <a:srgbClr val="E8F2FA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35424" y="1527048"/>
            <a:ext cx="3182112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6365C"/>
                </a:solidFill>
                <a:latin typeface="Tahoma"/>
              </a:rPr>
              <a:t>2. ONNX</a:t>
            </a:r>
          </a:p>
          <a:p>
            <a:pPr>
              <a:spcBef>
                <a:spcPts val="500"/>
              </a:spcBef>
              <a:defRPr sz="1300">
                <a:solidFill>
                  <a:srgbClr val="282828"/>
                </a:solidFill>
                <a:latin typeface="Tahoma"/>
              </a:defRPr>
            </a:pPr>
            <a:r>
              <a:t>แปลงโมเดลเป็น ONNX แล้ววัด latency ด้วย ONNX Runtime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17320"/>
            <a:ext cx="3474720" cy="1234440"/>
          </a:xfrm>
          <a:prstGeom prst="roundRect">
            <a:avLst/>
          </a:prstGeom>
          <a:solidFill>
            <a:srgbClr val="E8F2FA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93024" y="1527048"/>
            <a:ext cx="3182112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6365C"/>
                </a:solidFill>
                <a:latin typeface="Tahoma"/>
              </a:rPr>
              <a:t>3. Quantized</a:t>
            </a:r>
          </a:p>
          <a:p>
            <a:pPr>
              <a:spcBef>
                <a:spcPts val="500"/>
              </a:spcBef>
              <a:defRPr sz="1300">
                <a:solidFill>
                  <a:srgbClr val="282828"/>
                </a:solidFill>
                <a:latin typeface="Tahoma"/>
              </a:defRPr>
            </a:pPr>
            <a:r>
              <a:t>ทำ Dynamic Quantization และวัดผลซ้ำด้วย input เดียวกัน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914400" y="3429000"/>
          <a:ext cx="1033272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44240"/>
                <a:gridCol w="3444240"/>
                <a:gridCol w="3444240"/>
              </a:tblGrid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Tahoma"/>
                        </a:rPr>
                        <a:t>Metric</a:t>
                      </a:r>
                    </a:p>
                  </a:txBody>
                  <a:tcPr>
                    <a:solidFill>
                      <a:srgbClr val="3275B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Tahoma"/>
                        </a:rPr>
                        <a:t>ความหมาย</a:t>
                      </a:r>
                    </a:p>
                  </a:txBody>
                  <a:tcPr>
                    <a:solidFill>
                      <a:srgbClr val="3275B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Tahoma"/>
                        </a:rPr>
                        <a:t>เหตุผลที่ใช้วัด</a:t>
                      </a:r>
                    </a:p>
                  </a:txBody>
                  <a:tcPr>
                    <a:solidFill>
                      <a:srgbClr val="3275B5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82828"/>
                          </a:solidFill>
                          <a:latin typeface="Tahoma"/>
                        </a:rPr>
                        <a:t>Model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82828"/>
                          </a:solidFill>
                          <a:latin typeface="Tahoma"/>
                        </a:rPr>
                        <a:t>ขนาดไฟล์โมเดล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82828"/>
                          </a:solidFill>
                          <a:latin typeface="Tahoma"/>
                        </a:rPr>
                        <a:t>ดูว่า optimization ลดขนาดได้เท่าไร</a:t>
                      </a:r>
                    </a:p>
                  </a:txBody>
                  <a:tcPr/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82828"/>
                          </a:solidFill>
                          <a:latin typeface="Tahoma"/>
                        </a:rPr>
                        <a:t>Average 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82828"/>
                          </a:solidFill>
                          <a:latin typeface="Tahoma"/>
                        </a:rPr>
                        <a:t>เวลา inference เฉลี่ย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82828"/>
                          </a:solidFill>
                          <a:latin typeface="Tahoma"/>
                        </a:rPr>
                        <a:t>ดูความเร็วโดยรวม</a:t>
                      </a:r>
                    </a:p>
                  </a:txBody>
                  <a:tcPr/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82828"/>
                          </a:solidFill>
                          <a:latin typeface="Tahoma"/>
                        </a:rPr>
                        <a:t>P95 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82828"/>
                          </a:solidFill>
                          <a:latin typeface="Tahoma"/>
                        </a:rPr>
                        <a:t>เวลาที่ 95% ของ request ไม่เกินค่านี้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82828"/>
                          </a:solidFill>
                          <a:latin typeface="Tahoma"/>
                        </a:rPr>
                        <a:t>ดูความเสถียรของ response time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646920" y="6446520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Tahoma"/>
              </a:rPr>
              <a:t>MobileViT MLOps |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6365C"/>
                </a:solidFill>
                <a:latin typeface="Tahoma"/>
              </a:rPr>
              <a:t>วิธีวัดประสิทธิภาพของ API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24128"/>
            <a:ext cx="10972800" cy="36576"/>
          </a:xfrm>
          <a:prstGeom prst="rect">
            <a:avLst/>
          </a:prstGeom>
          <a:solidFill>
            <a:srgbClr val="32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78992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  <a:latin typeface="Tahoma"/>
              </a:defRPr>
            </a:pPr>
            <a:r>
              <a:t>ทดสอบ API ด้วย Docker เพื่อให้ใกล้เคียงสภาพแวดล้อม deploy จริง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  <a:latin typeface="Tahoma"/>
              </a:defRPr>
            </a:pPr>
            <a:r>
              <a:t>ส่งไฟล์รูปภาพจริงเข้า endpoint /predict และตรวจว่า response เป็น JSON ที่ถูกต้อง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  <a:latin typeface="Tahoma"/>
              </a:defRPr>
            </a:pPr>
            <a:r>
              <a:t>ทดสอบ error handling ด้วยไฟล์ที่ไม่ใช่รูปภาพ เพื่อดูว่า API ตอบ 400 Bad Request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  <a:latin typeface="Tahoma"/>
              </a:defRPr>
            </a:pPr>
            <a:r>
              <a:t>ทดสอบโหลดด้วย concurrent requests เพื่อดู throughput, average latency และ P95 latency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  <a:latin typeface="Tahoma"/>
              </a:defRPr>
            </a:pPr>
            <a:r>
              <a:t>ใช้ Error % เป็นตัวบอกว่าระบบเริ่มรับโหลดไม่ไหวหรือไม่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46920" y="6446520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Tahoma"/>
              </a:rPr>
              <a:t>MobileViT MLOps |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6365C"/>
                </a:solidFill>
                <a:latin typeface="Tahoma"/>
              </a:rPr>
              <a:t>API และ Error Handling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24128"/>
            <a:ext cx="10972800" cy="36576"/>
          </a:xfrm>
          <a:prstGeom prst="rect">
            <a:avLst/>
          </a:prstGeom>
          <a:solidFill>
            <a:srgbClr val="32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78992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82828"/>
                </a:solidFill>
                <a:latin typeface="Tahoma"/>
              </a:defRPr>
            </a:pPr>
            <a:r>
              <a:t>Endpoint หลัก: /predict รับไฟล์รูปภาพแบบ multipart/form-data</a:t>
            </a:r>
          </a:p>
          <a:p>
            <a:pPr>
              <a:spcAft>
                <a:spcPts val="800"/>
              </a:spcAft>
              <a:defRPr sz="1900">
                <a:solidFill>
                  <a:srgbClr val="282828"/>
                </a:solidFill>
                <a:latin typeface="Tahoma"/>
              </a:defRPr>
            </a:pPr>
            <a:r>
              <a:t>รองรับไฟล์ JPEG, PNG และ WebP</a:t>
            </a:r>
          </a:p>
          <a:p>
            <a:pPr>
              <a:spcAft>
                <a:spcPts val="800"/>
              </a:spcAft>
              <a:defRPr sz="1900">
                <a:solidFill>
                  <a:srgbClr val="282828"/>
                </a:solidFill>
                <a:latin typeface="Tahoma"/>
              </a:defRPr>
            </a:pPr>
            <a:r>
              <a:t>ตรวจสอบไฟล์ว่าง ไฟล์เสีย และขนาดไฟล์ก่อนเข้าโมเดล</a:t>
            </a:r>
          </a:p>
          <a:p>
            <a:pPr>
              <a:spcAft>
                <a:spcPts val="800"/>
              </a:spcAft>
              <a:defRPr sz="1900">
                <a:solidFill>
                  <a:srgbClr val="282828"/>
                </a:solidFill>
                <a:latin typeface="Tahoma"/>
              </a:defRPr>
            </a:pPr>
            <a:r>
              <a:t>ตอบกลับ 400 Bad Request เมื่อ input ไม่ถูกต้อง</a:t>
            </a:r>
          </a:p>
          <a:p>
            <a:pPr>
              <a:spcAft>
                <a:spcPts val="800"/>
              </a:spcAft>
              <a:defRPr sz="1900">
                <a:solidFill>
                  <a:srgbClr val="282828"/>
                </a:solidFill>
                <a:latin typeface="Tahoma"/>
              </a:defRPr>
            </a:pPr>
            <a:r>
              <a:t>ตอบกลับ 413 Request Entity Too Large เมื่อไฟล์ใหญ่เกินกำหนด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46920" y="6446520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Tahoma"/>
              </a:rPr>
              <a:t>MobileViT MLOps |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6365C"/>
                </a:solidFill>
                <a:latin typeface="Tahoma"/>
              </a:rPr>
              <a:t>ผลการทดสอบ API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24128"/>
            <a:ext cx="10972800" cy="36576"/>
          </a:xfrm>
          <a:prstGeom prst="rect">
            <a:avLst/>
          </a:prstGeom>
          <a:solidFill>
            <a:srgbClr val="32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3200400" cy="1188720"/>
          </a:xfrm>
          <a:prstGeom prst="roundRect">
            <a:avLst/>
          </a:prstGeom>
          <a:solidFill>
            <a:srgbClr val="70AD47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" y="1527048"/>
            <a:ext cx="2907792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6365C"/>
                </a:solidFill>
                <a:latin typeface="Tahoma"/>
              </a:rPr>
              <a:t>Unit Test</a:t>
            </a:r>
          </a:p>
          <a:p>
            <a:pPr>
              <a:spcBef>
                <a:spcPts val="500"/>
              </a:spcBef>
              <a:defRPr sz="1300">
                <a:solidFill>
                  <a:srgbClr val="282828"/>
                </a:solidFill>
                <a:latin typeface="Tahoma"/>
              </a:defRPr>
            </a:pPr>
            <a:r>
              <a:t>ผ่าน 3/3 tests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1417320"/>
            <a:ext cx="3200400" cy="1188720"/>
          </a:xfrm>
          <a:prstGeom prst="roundRect">
            <a:avLst/>
          </a:prstGeom>
          <a:solidFill>
            <a:srgbClr val="70AD47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26864" y="1527048"/>
            <a:ext cx="2907792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6365C"/>
                </a:solidFill>
                <a:latin typeface="Tahoma"/>
              </a:rPr>
              <a:t>Docker Test</a:t>
            </a:r>
          </a:p>
          <a:p>
            <a:pPr>
              <a:spcBef>
                <a:spcPts val="500"/>
              </a:spcBef>
              <a:defRPr sz="1300">
                <a:solidFill>
                  <a:srgbClr val="282828"/>
                </a:solidFill>
                <a:latin typeface="Tahoma"/>
              </a:defRPr>
            </a:pPr>
            <a:r>
              <a:t>API รันและทำนายผลได้จริง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417320"/>
            <a:ext cx="3200400" cy="1188720"/>
          </a:xfrm>
          <a:prstGeom prst="roundRect">
            <a:avLst/>
          </a:prstGeom>
          <a:solidFill>
            <a:srgbClr val="70AD47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84464" y="1527048"/>
            <a:ext cx="2907792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6365C"/>
                </a:solidFill>
                <a:latin typeface="Tahoma"/>
              </a:rPr>
              <a:t>Prediction</a:t>
            </a:r>
          </a:p>
          <a:p>
            <a:pPr>
              <a:spcBef>
                <a:spcPts val="500"/>
              </a:spcBef>
              <a:defRPr sz="1300">
                <a:solidFill>
                  <a:srgbClr val="282828"/>
                </a:solidFill>
                <a:latin typeface="Tahoma"/>
              </a:defRPr>
            </a:pPr>
            <a:r>
              <a:t>runtime: onnx-quantized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097280" y="3291840"/>
          <a:ext cx="9875520" cy="114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0"/>
                <a:gridCol w="4937760"/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Tahoma"/>
                        </a:rPr>
                        <a:t>Input</a:t>
                      </a:r>
                    </a:p>
                  </a:txBody>
                  <a:tcPr>
                    <a:solidFill>
                      <a:srgbClr val="3275B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Tahoma"/>
                        </a:rPr>
                        <a:t>ผลลัพธ์</a:t>
                      </a:r>
                    </a:p>
                  </a:txBody>
                  <a:tcPr>
                    <a:solidFill>
                      <a:srgbClr val="3275B5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82828"/>
                          </a:solidFill>
                          <a:latin typeface="Tahoma"/>
                        </a:rPr>
                        <a:t>sample_images/benchmark.png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82828"/>
                          </a:solidFill>
                          <a:latin typeface="Tahoma"/>
                        </a:rPr>
                        <a:t>tabby cat, Egyptian cat, tiger cat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82828"/>
                          </a:solidFill>
                          <a:latin typeface="Tahoma"/>
                        </a:rPr>
                        <a:t>ไฟล์ text/plain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82828"/>
                          </a:solidFill>
                          <a:latin typeface="Tahoma"/>
                        </a:rPr>
                        <a:t>400 Bad Request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646920" y="6446520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Tahoma"/>
              </a:rPr>
              <a:t>MobileViT MLOps |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6365C"/>
                </a:solidFill>
                <a:latin typeface="Tahoma"/>
              </a:rPr>
              <a:t>ผลการทดสอบโหลด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24128"/>
            <a:ext cx="10972800" cy="36576"/>
          </a:xfrm>
          <a:prstGeom prst="rect">
            <a:avLst/>
          </a:prstGeom>
          <a:solidFill>
            <a:srgbClr val="32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188720" y="1280160"/>
          <a:ext cx="9601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0"/>
                <a:gridCol w="4800600"/>
              </a:tblGrid>
              <a:tr h="39188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Tahoma"/>
                        </a:rPr>
                        <a:t>หัวข้อ</a:t>
                      </a:r>
                    </a:p>
                  </a:txBody>
                  <a:tcPr>
                    <a:solidFill>
                      <a:srgbClr val="3275B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Tahoma"/>
                        </a:rPr>
                        <a:t>ผลการทดสอบ</a:t>
                      </a:r>
                    </a:p>
                  </a:txBody>
                  <a:tcPr>
                    <a:solidFill>
                      <a:srgbClr val="3275B5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82828"/>
                          </a:solidFill>
                          <a:latin typeface="Tahoma"/>
                        </a:rPr>
                        <a:t>จำนวน request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82828"/>
                          </a:solidFill>
                          <a:latin typeface="Tahoma"/>
                        </a:rPr>
                        <a:t>30</a:t>
                      </a:r>
                    </a:p>
                  </a:txBody>
                  <a:tcPr/>
                </a:tc>
              </a:tr>
              <a:tr h="391885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82828"/>
                          </a:solidFill>
                          <a:latin typeface="Tahoma"/>
                        </a:rPr>
                        <a:t>Concurrent users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82828"/>
                          </a:solidFill>
                          <a:latin typeface="Tahoma"/>
                        </a:rPr>
                        <a:t>10</a:t>
                      </a:r>
                    </a:p>
                  </a:txBody>
                  <a:tcPr/>
                </a:tc>
              </a:tr>
              <a:tr h="391885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82828"/>
                          </a:solidFill>
                          <a:latin typeface="Tahoma"/>
                        </a:rPr>
                        <a:t>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82828"/>
                          </a:solidFill>
                          <a:latin typeface="Tahoma"/>
                        </a:rPr>
                        <a:t>30/30</a:t>
                      </a:r>
                    </a:p>
                  </a:txBody>
                  <a:tcPr/>
                </a:tc>
              </a:tr>
              <a:tr h="391885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82828"/>
                          </a:solidFill>
                          <a:latin typeface="Tahoma"/>
                        </a:rPr>
                        <a:t>Throughput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82828"/>
                          </a:solidFill>
                          <a:latin typeface="Tahoma"/>
                        </a:rPr>
                        <a:t>10.32 requests/second</a:t>
                      </a:r>
                    </a:p>
                  </a:txBody>
                  <a:tcPr/>
                </a:tc>
              </a:tr>
              <a:tr h="391885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82828"/>
                          </a:solidFill>
                          <a:latin typeface="Tahoma"/>
                        </a:rPr>
                        <a:t>Average 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82828"/>
                          </a:solidFill>
                          <a:latin typeface="Tahoma"/>
                        </a:rPr>
                        <a:t>874.90 ms</a:t>
                      </a:r>
                    </a:p>
                  </a:txBody>
                  <a:tcPr/>
                </a:tc>
              </a:tr>
              <a:tr h="39189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82828"/>
                          </a:solidFill>
                          <a:latin typeface="Tahoma"/>
                        </a:rPr>
                        <a:t>P95 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82828"/>
                          </a:solidFill>
                          <a:latin typeface="Tahoma"/>
                        </a:rPr>
                        <a:t>1187.96 ms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4572000"/>
            <a:ext cx="1078992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82828"/>
                </a:solidFill>
                <a:latin typeface="Tahoma"/>
              </a:defRPr>
            </a:pPr>
            <a:r>
              <a:t>ระบบตอบสนองครบทุก request ในชุดทดสอบขนาดเล็ก</a:t>
            </a:r>
          </a:p>
          <a:p>
            <a:pPr>
              <a:spcAft>
                <a:spcPts val="800"/>
              </a:spcAft>
              <a:defRPr sz="1700">
                <a:solidFill>
                  <a:srgbClr val="282828"/>
                </a:solidFill>
                <a:latin typeface="Tahoma"/>
              </a:defRPr>
            </a:pPr>
            <a:r>
              <a:t>เมื่อเพิ่ม threads มากขึ้น latency จะสูงขึ้นตามภาระ CPU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46920" y="6446520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Tahoma"/>
              </a:rPr>
              <a:t>MobileViT MLOps |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6365C"/>
                </a:solidFill>
                <a:latin typeface="Tahoma"/>
              </a:rPr>
              <a:t>CI/CD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24128"/>
            <a:ext cx="10972800" cy="36576"/>
          </a:xfrm>
          <a:prstGeom prst="rect">
            <a:avLst/>
          </a:prstGeom>
          <a:solidFill>
            <a:srgbClr val="32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691640"/>
            <a:ext cx="2057400" cy="1097280"/>
          </a:xfrm>
          <a:prstGeom prst="roundRect">
            <a:avLst/>
          </a:prstGeom>
          <a:solidFill>
            <a:srgbClr val="E8F2FA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0704" y="1801368"/>
            <a:ext cx="176479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6365C"/>
                </a:solidFill>
                <a:latin typeface="Tahoma"/>
              </a:rPr>
              <a:t>Push Code</a:t>
            </a:r>
          </a:p>
          <a:p>
            <a:pPr>
              <a:spcBef>
                <a:spcPts val="500"/>
              </a:spcBef>
              <a:defRPr sz="1300">
                <a:solidFill>
                  <a:srgbClr val="282828"/>
                </a:solidFill>
                <a:latin typeface="Tahoma"/>
              </a:defRPr>
            </a:pPr>
            <a:r>
              <a:t>GitHub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035808" y="2148840"/>
            <a:ext cx="411480" cy="210312"/>
          </a:xfrm>
          <a:prstGeom prst="rightArrow">
            <a:avLst/>
          </a:prstGeom>
          <a:solidFill>
            <a:srgbClr val="32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474720" y="1691640"/>
            <a:ext cx="2057400" cy="1097280"/>
          </a:xfrm>
          <a:prstGeom prst="roundRect">
            <a:avLst/>
          </a:prstGeom>
          <a:solidFill>
            <a:srgbClr val="E8F2FA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21024" y="1801368"/>
            <a:ext cx="176479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6365C"/>
                </a:solidFill>
                <a:latin typeface="Tahoma"/>
              </a:rPr>
              <a:t>Install</a:t>
            </a:r>
          </a:p>
          <a:p>
            <a:pPr>
              <a:spcBef>
                <a:spcPts val="500"/>
              </a:spcBef>
              <a:defRPr sz="1300">
                <a:solidFill>
                  <a:srgbClr val="282828"/>
                </a:solidFill>
                <a:latin typeface="Tahoma"/>
              </a:defRPr>
            </a:pPr>
            <a:r>
              <a:t>Dependencies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596127" y="2148840"/>
            <a:ext cx="411480" cy="210312"/>
          </a:xfrm>
          <a:prstGeom prst="rightArrow">
            <a:avLst/>
          </a:prstGeom>
          <a:solidFill>
            <a:srgbClr val="32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035040" y="1691640"/>
            <a:ext cx="2057400" cy="1097280"/>
          </a:xfrm>
          <a:prstGeom prst="roundRect">
            <a:avLst/>
          </a:prstGeom>
          <a:solidFill>
            <a:srgbClr val="E8F2FA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81344" y="1801368"/>
            <a:ext cx="176479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6365C"/>
                </a:solidFill>
                <a:latin typeface="Tahoma"/>
              </a:rPr>
              <a:t>Test</a:t>
            </a:r>
          </a:p>
          <a:p>
            <a:pPr>
              <a:spcBef>
                <a:spcPts val="500"/>
              </a:spcBef>
              <a:defRPr sz="1300">
                <a:solidFill>
                  <a:srgbClr val="282828"/>
                </a:solidFill>
                <a:latin typeface="Tahoma"/>
              </a:defRPr>
            </a:pPr>
            <a:r>
              <a:t>pytest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156448" y="2148840"/>
            <a:ext cx="411480" cy="210312"/>
          </a:xfrm>
          <a:prstGeom prst="rightArrow">
            <a:avLst/>
          </a:prstGeom>
          <a:solidFill>
            <a:srgbClr val="32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595359" y="1691640"/>
            <a:ext cx="2057400" cy="1097280"/>
          </a:xfrm>
          <a:prstGeom prst="roundRect">
            <a:avLst/>
          </a:prstGeom>
          <a:solidFill>
            <a:srgbClr val="E8F2FA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41663" y="1801368"/>
            <a:ext cx="176479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6365C"/>
                </a:solidFill>
                <a:latin typeface="Tahoma"/>
              </a:rPr>
              <a:t>Deploy</a:t>
            </a:r>
          </a:p>
          <a:p>
            <a:pPr>
              <a:spcBef>
                <a:spcPts val="500"/>
              </a:spcBef>
              <a:defRPr sz="1300">
                <a:solidFill>
                  <a:srgbClr val="282828"/>
                </a:solidFill>
                <a:latin typeface="Tahoma"/>
              </a:defRPr>
            </a:pPr>
            <a:r>
              <a:t>Hugging Face Spaces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794760"/>
            <a:ext cx="1078992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  <a:latin typeface="Tahoma"/>
              </a:defRPr>
            </a:pPr>
            <a:r>
              <a:t>Workflow อยู่ที่ .github/workflows/ci-cd.yml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  <a:latin typeface="Tahoma"/>
              </a:defRPr>
            </a:pPr>
            <a:r>
              <a:t>รัน unit test ทุกครั้งที่ push หรือ pull request ไปยัง main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  <a:latin typeface="Tahoma"/>
              </a:defRPr>
            </a:pPr>
            <a:r>
              <a:t>รองรับ auto-deploy เมื่อกำหนด HF_TOKEN และ HF_SPACE_REPO_ID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46920" y="6446520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Tahoma"/>
              </a:rPr>
              <a:t>MobileViT MLOps |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6365C"/>
                </a:solidFill>
                <a:latin typeface="Tahoma"/>
              </a:rPr>
              <a:t>Live Demo: API บน Docker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24128"/>
            <a:ext cx="10972800" cy="36576"/>
          </a:xfrm>
          <a:prstGeom prst="rect">
            <a:avLst/>
          </a:prstGeom>
          <a:solidFill>
            <a:srgbClr val="32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17320"/>
            <a:ext cx="3931920" cy="260442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489204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595959"/>
                </a:solidFill>
                <a:latin typeface="Tahoma"/>
              </a:rPr>
              <a:t>ภาพตัวอย่างจริงที่ใช้ทดสอบ endpoint /predict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66360" y="1417320"/>
            <a:ext cx="6035040" cy="1097280"/>
          </a:xfrm>
          <a:prstGeom prst="roundRect">
            <a:avLst/>
          </a:prstGeom>
          <a:solidFill>
            <a:srgbClr val="DDEBF7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12664" y="1527048"/>
            <a:ext cx="5742431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6365C"/>
                </a:solidFill>
                <a:latin typeface="Tahoma"/>
              </a:rPr>
              <a:t>ขั้นตอน Demo</a:t>
            </a:r>
          </a:p>
          <a:p>
            <a:pPr>
              <a:spcBef>
                <a:spcPts val="500"/>
              </a:spcBef>
              <a:defRPr sz="1500">
                <a:solidFill>
                  <a:srgbClr val="282828"/>
                </a:solidFill>
                <a:latin typeface="Tahoma"/>
              </a:defRPr>
            </a:pPr>
            <a:r>
              <a:t>เปิด Docker API → ส่งรูปภาพ → ตรวจ JSON response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66360" y="2880360"/>
            <a:ext cx="6035040" cy="1097280"/>
          </a:xfrm>
          <a:prstGeom prst="roundRect">
            <a:avLst/>
          </a:prstGeom>
          <a:solidFill>
            <a:srgbClr val="70AD47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12664" y="2990088"/>
            <a:ext cx="5742431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6365C"/>
                </a:solidFill>
                <a:latin typeface="Tahoma"/>
              </a:rPr>
              <a:t>ผลลัพธ์ที่ได้</a:t>
            </a:r>
          </a:p>
          <a:p>
            <a:pPr>
              <a:spcBef>
                <a:spcPts val="500"/>
              </a:spcBef>
              <a:defRPr sz="1400">
                <a:solidFill>
                  <a:srgbClr val="282828"/>
                </a:solidFill>
                <a:latin typeface="Tahoma"/>
              </a:defRPr>
            </a:pPr>
            <a:r>
              <a:t>model: apple/mobilevit-small | runtime: onnx-quantized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66360" y="4343400"/>
            <a:ext cx="6035040" cy="1097280"/>
          </a:xfrm>
          <a:prstGeom prst="roundRect">
            <a:avLst/>
          </a:prstGeom>
          <a:solidFill>
            <a:srgbClr val="ED7D31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12664" y="4453128"/>
            <a:ext cx="5742431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6365C"/>
                </a:solidFill>
                <a:latin typeface="Tahoma"/>
              </a:rPr>
              <a:t>Top Predictions</a:t>
            </a:r>
          </a:p>
          <a:p>
            <a:pPr>
              <a:spcBef>
                <a:spcPts val="500"/>
              </a:spcBef>
              <a:defRPr sz="1400">
                <a:solidFill>
                  <a:srgbClr val="282828"/>
                </a:solidFill>
                <a:latin typeface="Tahoma"/>
              </a:defRPr>
            </a:pPr>
            <a:r>
              <a:t>tabby cat, Egyptian cat, tiger cat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6446520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Tahoma"/>
              </a:rPr>
              <a:t>MobileViT MLOps |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6365C"/>
                </a:solidFill>
                <a:latin typeface="Tahoma"/>
              </a:rPr>
              <a:t>Deliverables ที่จัดทำ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24128"/>
            <a:ext cx="10972800" cy="36576"/>
          </a:xfrm>
          <a:prstGeom prst="rect">
            <a:avLst/>
          </a:prstGeom>
          <a:solidFill>
            <a:srgbClr val="32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78992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82828"/>
                </a:solidFill>
                <a:latin typeface="Tahoma"/>
              </a:defRPr>
            </a:pPr>
            <a:r>
              <a:t>Source Code Repository บน GitHub</a:t>
            </a:r>
          </a:p>
          <a:p>
            <a:pPr>
              <a:spcAft>
                <a:spcPts val="800"/>
              </a:spcAft>
              <a:defRPr sz="2000">
                <a:solidFill>
                  <a:srgbClr val="282828"/>
                </a:solidFill>
                <a:latin typeface="Tahoma"/>
              </a:defRPr>
            </a:pPr>
            <a:r>
              <a:t>README.md ภาษาไทย พร้อมวิธีใช้งานและ cURL</a:t>
            </a:r>
          </a:p>
          <a:p>
            <a:pPr>
              <a:spcAft>
                <a:spcPts val="800"/>
              </a:spcAft>
              <a:defRPr sz="2000">
                <a:solidFill>
                  <a:srgbClr val="282828"/>
                </a:solidFill>
                <a:latin typeface="Tahoma"/>
              </a:defRPr>
            </a:pPr>
            <a:r>
              <a:t>Dockerfile และโมเดล ONNX Quantized</a:t>
            </a:r>
          </a:p>
          <a:p>
            <a:pPr>
              <a:spcAft>
                <a:spcPts val="800"/>
              </a:spcAft>
              <a:defRPr sz="2000">
                <a:solidFill>
                  <a:srgbClr val="282828"/>
                </a:solidFill>
                <a:latin typeface="Tahoma"/>
              </a:defRPr>
            </a:pPr>
            <a:r>
              <a:t>GitHub Actions สำหรับ CI/CD</a:t>
            </a:r>
          </a:p>
          <a:p>
            <a:pPr>
              <a:spcAft>
                <a:spcPts val="800"/>
              </a:spcAft>
              <a:defRPr sz="2000">
                <a:solidFill>
                  <a:srgbClr val="282828"/>
                </a:solidFill>
                <a:latin typeface="Tahoma"/>
              </a:defRPr>
            </a:pPr>
            <a:r>
              <a:t>Postman Collection และ JMeter Test Plan</a:t>
            </a:r>
          </a:p>
          <a:p>
            <a:pPr>
              <a:spcAft>
                <a:spcPts val="800"/>
              </a:spcAft>
              <a:defRPr sz="2000">
                <a:solidFill>
                  <a:srgbClr val="282828"/>
                </a:solidFill>
                <a:latin typeface="Tahoma"/>
              </a:defRPr>
            </a:pPr>
            <a:r>
              <a:t>รายงาน PDF และสไลด์นำเสนอ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46920" y="6446520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Tahoma"/>
              </a:rPr>
              <a:t>MobileViT MLOps |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6365C"/>
                </a:solidFill>
                <a:latin typeface="Tahoma"/>
              </a:rPr>
              <a:t>สรุปผล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24128"/>
            <a:ext cx="10972800" cy="36576"/>
          </a:xfrm>
          <a:prstGeom prst="rect">
            <a:avLst/>
          </a:prstGeom>
          <a:solidFill>
            <a:srgbClr val="32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78992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82828"/>
                </a:solidFill>
                <a:latin typeface="Tahoma"/>
              </a:defRPr>
            </a:pPr>
            <a:r>
              <a:t>พัฒนา API จำแนกรูปภาพด้วย apple/mobilevit-small ได้สำเร็จ</a:t>
            </a:r>
          </a:p>
          <a:p>
            <a:pPr>
              <a:spcAft>
                <a:spcPts val="800"/>
              </a:spcAft>
              <a:defRPr sz="2100">
                <a:solidFill>
                  <a:srgbClr val="282828"/>
                </a:solidFill>
                <a:latin typeface="Tahoma"/>
              </a:defRPr>
            </a:pPr>
            <a:r>
              <a:t>ระบบใช้งานจริงผ่าน Docker และตอบผลลัพธ์ด้วย ONNX Quantized Runtime</a:t>
            </a:r>
          </a:p>
          <a:p>
            <a:pPr>
              <a:spcAft>
                <a:spcPts val="800"/>
              </a:spcAft>
              <a:defRPr sz="2100">
                <a:solidFill>
                  <a:srgbClr val="282828"/>
                </a:solidFill>
                <a:latin typeface="Tahoma"/>
              </a:defRPr>
            </a:pPr>
            <a:r>
              <a:t>มีการทดสอบ API, error handling, unit test และ load test</a:t>
            </a:r>
          </a:p>
          <a:p>
            <a:pPr>
              <a:spcAft>
                <a:spcPts val="800"/>
              </a:spcAft>
              <a:defRPr sz="2100">
                <a:solidFill>
                  <a:srgbClr val="282828"/>
                </a:solidFill>
                <a:latin typeface="Tahoma"/>
              </a:defRPr>
            </a:pPr>
            <a:r>
              <a:t>เตรียมเอกสารและ pipeline ครบตามข้อกำหนดของงาน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257800"/>
            <a:ext cx="106070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16365C"/>
                </a:solidFill>
                <a:latin typeface="Tahoma"/>
              </a:rPr>
              <a:t>ขอบคุณครับ / ค่ะ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46920" y="6446520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Tahoma"/>
              </a:rPr>
              <a:t>MobileViT MLOps |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